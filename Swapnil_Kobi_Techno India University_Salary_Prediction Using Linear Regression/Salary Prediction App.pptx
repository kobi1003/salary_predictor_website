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.xml"/><Relationship Id="rId24" Type="http://schemas.openxmlformats.org/officeDocument/2006/relationships/image" Target="../media/image36.png"/><Relationship Id="rId23" Type="http://schemas.openxmlformats.org/officeDocument/2006/relationships/image" Target="../media/image35.png"/><Relationship Id="rId22" Type="http://schemas.openxmlformats.org/officeDocument/2006/relationships/image" Target="../media/image34.png"/><Relationship Id="rId21" Type="http://schemas.openxmlformats.org/officeDocument/2006/relationships/image" Target="../media/image33.png"/><Relationship Id="rId20" Type="http://schemas.openxmlformats.org/officeDocument/2006/relationships/image" Target="../media/image32.png"/><Relationship Id="rId2" Type="http://schemas.openxmlformats.org/officeDocument/2006/relationships/image" Target="../media/image14.png"/><Relationship Id="rId19" Type="http://schemas.openxmlformats.org/officeDocument/2006/relationships/image" Target="../media/image31.png"/><Relationship Id="rId18" Type="http://schemas.openxmlformats.org/officeDocument/2006/relationships/image" Target="../media/image30.png"/><Relationship Id="rId17" Type="http://schemas.openxmlformats.org/officeDocument/2006/relationships/image" Target="../media/image29.png"/><Relationship Id="rId16" Type="http://schemas.openxmlformats.org/officeDocument/2006/relationships/image" Target="../media/image28.png"/><Relationship Id="rId15" Type="http://schemas.openxmlformats.org/officeDocument/2006/relationships/image" Target="../media/image27.png"/><Relationship Id="rId14" Type="http://schemas.openxmlformats.org/officeDocument/2006/relationships/image" Target="../media/image26.png"/><Relationship Id="rId13" Type="http://schemas.openxmlformats.org/officeDocument/2006/relationships/image" Target="../media/image25.png"/><Relationship Id="rId12" Type="http://schemas.openxmlformats.org/officeDocument/2006/relationships/image" Target="../media/image24.png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5" Type="http://schemas.openxmlformats.org/officeDocument/2006/relationships/notesSlide" Target="../notesSlides/notesSlide3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56.png"/><Relationship Id="rId22" Type="http://schemas.openxmlformats.org/officeDocument/2006/relationships/image" Target="../media/image55.png"/><Relationship Id="rId21" Type="http://schemas.openxmlformats.org/officeDocument/2006/relationships/image" Target="../media/image54.png"/><Relationship Id="rId20" Type="http://schemas.openxmlformats.org/officeDocument/2006/relationships/image" Target="../media/image53.png"/><Relationship Id="rId2" Type="http://schemas.openxmlformats.org/officeDocument/2006/relationships/image" Target="../media/image37.png"/><Relationship Id="rId19" Type="http://schemas.openxmlformats.org/officeDocument/2006/relationships/image" Target="../media/image52.png"/><Relationship Id="rId18" Type="http://schemas.openxmlformats.org/officeDocument/2006/relationships/image" Target="../media/image51.png"/><Relationship Id="rId17" Type="http://schemas.openxmlformats.org/officeDocument/2006/relationships/image" Target="../media/image50.png"/><Relationship Id="rId16" Type="http://schemas.openxmlformats.org/officeDocument/2006/relationships/image" Target="../media/image49.png"/><Relationship Id="rId15" Type="http://schemas.openxmlformats.org/officeDocument/2006/relationships/image" Target="../media/image48.png"/><Relationship Id="rId14" Type="http://schemas.openxmlformats.org/officeDocument/2006/relationships/image" Target="../media/image47.png"/><Relationship Id="rId13" Type="http://schemas.openxmlformats.org/officeDocument/2006/relationships/image" Target="../media/image46.png"/><Relationship Id="rId12" Type="http://schemas.openxmlformats.org/officeDocument/2006/relationships/image" Target="../media/image45.png"/><Relationship Id="rId11" Type="http://schemas.openxmlformats.org/officeDocument/2006/relationships/image" Target="../media/image44.png"/><Relationship Id="rId10" Type="http://schemas.openxmlformats.org/officeDocument/2006/relationships/image" Target="../media/image4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58.png"/><Relationship Id="rId7" Type="http://schemas.openxmlformats.org/officeDocument/2006/relationships/image" Target="../media/image57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4" Type="http://schemas.openxmlformats.org/officeDocument/2006/relationships/notesSlide" Target="../notesSlides/notesSlide4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71.png"/><Relationship Id="rId21" Type="http://schemas.openxmlformats.org/officeDocument/2006/relationships/image" Target="../media/image30.png"/><Relationship Id="rId20" Type="http://schemas.openxmlformats.org/officeDocument/2006/relationships/image" Target="../media/image70.png"/><Relationship Id="rId2" Type="http://schemas.openxmlformats.org/officeDocument/2006/relationships/image" Target="../media/image14.png"/><Relationship Id="rId19" Type="http://schemas.openxmlformats.org/officeDocument/2006/relationships/image" Target="../media/image69.png"/><Relationship Id="rId18" Type="http://schemas.openxmlformats.org/officeDocument/2006/relationships/image" Target="../media/image68.png"/><Relationship Id="rId17" Type="http://schemas.openxmlformats.org/officeDocument/2006/relationships/image" Target="../media/image67.png"/><Relationship Id="rId16" Type="http://schemas.openxmlformats.org/officeDocument/2006/relationships/image" Target="../media/image66.png"/><Relationship Id="rId15" Type="http://schemas.openxmlformats.org/officeDocument/2006/relationships/image" Target="../media/image65.png"/><Relationship Id="rId14" Type="http://schemas.openxmlformats.org/officeDocument/2006/relationships/image" Target="../media/image64.png"/><Relationship Id="rId13" Type="http://schemas.openxmlformats.org/officeDocument/2006/relationships/image" Target="../media/image63.png"/><Relationship Id="rId12" Type="http://schemas.openxmlformats.org/officeDocument/2006/relationships/image" Target="../media/image62.png"/><Relationship Id="rId11" Type="http://schemas.openxmlformats.org/officeDocument/2006/relationships/image" Target="../media/image61.png"/><Relationship Id="rId10" Type="http://schemas.openxmlformats.org/officeDocument/2006/relationships/image" Target="../media/image60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7.png"/><Relationship Id="rId8" Type="http://schemas.openxmlformats.org/officeDocument/2006/relationships/image" Target="../media/image76.png"/><Relationship Id="rId7" Type="http://schemas.openxmlformats.org/officeDocument/2006/relationships/image" Target="../media/image75.png"/><Relationship Id="rId6" Type="http://schemas.openxmlformats.org/officeDocument/2006/relationships/image" Target="../media/image18.png"/><Relationship Id="rId5" Type="http://schemas.openxmlformats.org/officeDocument/2006/relationships/image" Target="../media/image74.png"/><Relationship Id="rId4" Type="http://schemas.openxmlformats.org/officeDocument/2006/relationships/image" Target="../media/image17.png"/><Relationship Id="rId3" Type="http://schemas.openxmlformats.org/officeDocument/2006/relationships/image" Target="../media/image73.png"/><Relationship Id="rId22" Type="http://schemas.openxmlformats.org/officeDocument/2006/relationships/notesSlide" Target="../notesSlides/notesSlide5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88.png"/><Relationship Id="rId2" Type="http://schemas.openxmlformats.org/officeDocument/2006/relationships/image" Target="../media/image14.png"/><Relationship Id="rId19" Type="http://schemas.openxmlformats.org/officeDocument/2006/relationships/image" Target="../media/image87.png"/><Relationship Id="rId18" Type="http://schemas.openxmlformats.org/officeDocument/2006/relationships/image" Target="../media/image86.png"/><Relationship Id="rId17" Type="http://schemas.openxmlformats.org/officeDocument/2006/relationships/image" Target="../media/image85.png"/><Relationship Id="rId16" Type="http://schemas.openxmlformats.org/officeDocument/2006/relationships/image" Target="../media/image84.png"/><Relationship Id="rId15" Type="http://schemas.openxmlformats.org/officeDocument/2006/relationships/image" Target="../media/image83.png"/><Relationship Id="rId14" Type="http://schemas.openxmlformats.org/officeDocument/2006/relationships/image" Target="../media/image82.png"/><Relationship Id="rId13" Type="http://schemas.openxmlformats.org/officeDocument/2006/relationships/image" Target="../media/image81.png"/><Relationship Id="rId12" Type="http://schemas.openxmlformats.org/officeDocument/2006/relationships/image" Target="../media/image80.png"/><Relationship Id="rId11" Type="http://schemas.openxmlformats.org/officeDocument/2006/relationships/image" Target="../media/image79.png"/><Relationship Id="rId10" Type="http://schemas.openxmlformats.org/officeDocument/2006/relationships/image" Target="../media/image78.png"/><Relationship Id="rId1" Type="http://schemas.openxmlformats.org/officeDocument/2006/relationships/image" Target="../media/image7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17.png"/><Relationship Id="rId4" Type="http://schemas.openxmlformats.org/officeDocument/2006/relationships/image" Target="../media/image91.png"/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8.png"/><Relationship Id="rId8" Type="http://schemas.openxmlformats.org/officeDocument/2006/relationships/image" Target="../media/image97.png"/><Relationship Id="rId7" Type="http://schemas.openxmlformats.org/officeDocument/2006/relationships/image" Target="../media/image96.png"/><Relationship Id="rId6" Type="http://schemas.openxmlformats.org/officeDocument/2006/relationships/image" Target="../media/image95.png"/><Relationship Id="rId5" Type="http://schemas.openxmlformats.org/officeDocument/2006/relationships/image" Target="../media/image17.png"/><Relationship Id="rId4" Type="http://schemas.openxmlformats.org/officeDocument/2006/relationships/image" Target="../media/image94.png"/><Relationship Id="rId3" Type="http://schemas.openxmlformats.org/officeDocument/2006/relationships/image" Target="../media/image93.png"/><Relationship Id="rId21" Type="http://schemas.openxmlformats.org/officeDocument/2006/relationships/notesSlide" Target="../notesSlides/notesSlide7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9" Type="http://schemas.openxmlformats.org/officeDocument/2006/relationships/image" Target="../media/image108.png"/><Relationship Id="rId18" Type="http://schemas.openxmlformats.org/officeDocument/2006/relationships/image" Target="../media/image107.png"/><Relationship Id="rId17" Type="http://schemas.openxmlformats.org/officeDocument/2006/relationships/image" Target="../media/image106.png"/><Relationship Id="rId16" Type="http://schemas.openxmlformats.org/officeDocument/2006/relationships/image" Target="../media/image105.png"/><Relationship Id="rId15" Type="http://schemas.openxmlformats.org/officeDocument/2006/relationships/image" Target="../media/image104.png"/><Relationship Id="rId14" Type="http://schemas.openxmlformats.org/officeDocument/2006/relationships/image" Target="../media/image103.png"/><Relationship Id="rId13" Type="http://schemas.openxmlformats.org/officeDocument/2006/relationships/image" Target="../media/image102.png"/><Relationship Id="rId12" Type="http://schemas.openxmlformats.org/officeDocument/2006/relationships/image" Target="../media/image101.png"/><Relationship Id="rId11" Type="http://schemas.openxmlformats.org/officeDocument/2006/relationships/image" Target="../media/image100.png"/><Relationship Id="rId10" Type="http://schemas.openxmlformats.org/officeDocument/2006/relationships/image" Target="../media/image99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2.png"/><Relationship Id="rId8" Type="http://schemas.openxmlformats.org/officeDocument/2006/relationships/image" Target="../media/image96.png"/><Relationship Id="rId7" Type="http://schemas.openxmlformats.org/officeDocument/2006/relationships/image" Target="../media/image18.png"/><Relationship Id="rId6" Type="http://schemas.openxmlformats.org/officeDocument/2006/relationships/image" Target="../media/image74.png"/><Relationship Id="rId5" Type="http://schemas.openxmlformats.org/officeDocument/2006/relationships/image" Target="../media/image17.png"/><Relationship Id="rId4" Type="http://schemas.openxmlformats.org/officeDocument/2006/relationships/image" Target="../media/image111.png"/><Relationship Id="rId3" Type="http://schemas.openxmlformats.org/officeDocument/2006/relationships/image" Target="../media/image110.png"/><Relationship Id="rId27" Type="http://schemas.openxmlformats.org/officeDocument/2006/relationships/notesSlide" Target="../notesSlides/notesSlide8.xml"/><Relationship Id="rId26" Type="http://schemas.openxmlformats.org/officeDocument/2006/relationships/slideLayout" Target="../slideLayouts/slideLayout1.xml"/><Relationship Id="rId25" Type="http://schemas.openxmlformats.org/officeDocument/2006/relationships/image" Target="../media/image128.png"/><Relationship Id="rId24" Type="http://schemas.openxmlformats.org/officeDocument/2006/relationships/image" Target="../media/image127.png"/><Relationship Id="rId23" Type="http://schemas.openxmlformats.org/officeDocument/2006/relationships/image" Target="../media/image126.png"/><Relationship Id="rId22" Type="http://schemas.openxmlformats.org/officeDocument/2006/relationships/image" Target="../media/image125.png"/><Relationship Id="rId21" Type="http://schemas.openxmlformats.org/officeDocument/2006/relationships/image" Target="../media/image124.png"/><Relationship Id="rId20" Type="http://schemas.openxmlformats.org/officeDocument/2006/relationships/image" Target="../media/image123.png"/><Relationship Id="rId2" Type="http://schemas.openxmlformats.org/officeDocument/2006/relationships/image" Target="../media/image109.png"/><Relationship Id="rId19" Type="http://schemas.openxmlformats.org/officeDocument/2006/relationships/image" Target="../media/image122.png"/><Relationship Id="rId18" Type="http://schemas.openxmlformats.org/officeDocument/2006/relationships/image" Target="../media/image121.png"/><Relationship Id="rId17" Type="http://schemas.openxmlformats.org/officeDocument/2006/relationships/image" Target="../media/image120.png"/><Relationship Id="rId16" Type="http://schemas.openxmlformats.org/officeDocument/2006/relationships/image" Target="../media/image119.png"/><Relationship Id="rId15" Type="http://schemas.openxmlformats.org/officeDocument/2006/relationships/image" Target="../media/image118.png"/><Relationship Id="rId14" Type="http://schemas.openxmlformats.org/officeDocument/2006/relationships/image" Target="../media/image117.png"/><Relationship Id="rId13" Type="http://schemas.openxmlformats.org/officeDocument/2006/relationships/image" Target="../media/image116.png"/><Relationship Id="rId12" Type="http://schemas.openxmlformats.org/officeDocument/2006/relationships/image" Target="../media/image115.png"/><Relationship Id="rId11" Type="http://schemas.openxmlformats.org/officeDocument/2006/relationships/image" Target="../media/image114.png"/><Relationship Id="rId10" Type="http://schemas.openxmlformats.org/officeDocument/2006/relationships/image" Target="../media/image11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0" y="609005"/>
            <a:ext cx="686989" cy="68699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089" y="1995946"/>
            <a:ext cx="730873" cy="124685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329" y="4087501"/>
            <a:ext cx="999392" cy="58799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1745" y="1207202"/>
            <a:ext cx="1661010" cy="46214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4508" y="3186160"/>
            <a:ext cx="1108983" cy="31423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47625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0" y="1905000"/>
            <a:ext cx="76200" cy="76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0" y="3810000"/>
            <a:ext cx="76200" cy="76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0" y="1428750"/>
            <a:ext cx="76200" cy="76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0" y="3333750"/>
            <a:ext cx="76200" cy="76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9675" y="1800225"/>
            <a:ext cx="51435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8825" y="1800225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0825" y="1800225"/>
            <a:ext cx="5715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0" y="3228975"/>
            <a:ext cx="1219200" cy="38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12192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1900654" y="2505075"/>
            <a:ext cx="8390692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D7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Salary Prediction App</a:t>
            </a:r>
            <a:endParaRPr lang="en-US" sz="4500" dirty="0"/>
          </a:p>
        </p:txBody>
      </p:sp>
      <p:sp>
        <p:nvSpPr>
          <p:cNvPr id="20" name="Text 1"/>
          <p:cNvSpPr/>
          <p:nvPr/>
        </p:nvSpPr>
        <p:spPr>
          <a:xfrm>
            <a:off x="1900654" y="3495675"/>
            <a:ext cx="8390692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Machine Learning-Based Web Application</a:t>
            </a:r>
            <a:endParaRPr lang="en-US" sz="2250" dirty="0"/>
          </a:p>
        </p:txBody>
      </p:sp>
      <p:sp>
        <p:nvSpPr>
          <p:cNvPr id="21" name="Text 2"/>
          <p:cNvSpPr/>
          <p:nvPr/>
        </p:nvSpPr>
        <p:spPr>
          <a:xfrm>
            <a:off x="1900654" y="4448175"/>
            <a:ext cx="8390692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👨‍💻 </a:t>
            </a: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Developed by: 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Swapnil Kobi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2599879" y="4791075"/>
            <a:ext cx="6992243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🧑‍🏫 </a:t>
            </a: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Guide: 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Himanshu Souda</a:t>
            </a:r>
            <a:endParaRPr lang="en-US" sz="1500" dirty="0"/>
          </a:p>
        </p:txBody>
      </p:sp>
      <p:sp>
        <p:nvSpPr>
          <p:cNvPr id="23" name="Text 4"/>
          <p:cNvSpPr/>
          <p:nvPr/>
        </p:nvSpPr>
        <p:spPr>
          <a:xfrm>
            <a:off x="10912956" y="6324600"/>
            <a:ext cx="106281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05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833" y="1533607"/>
            <a:ext cx="552285" cy="55228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276" y="3881804"/>
            <a:ext cx="587998" cy="99939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0127" y="5225630"/>
            <a:ext cx="1384997" cy="38818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50" y="4895850"/>
            <a:ext cx="57150" cy="571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95250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333500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333750"/>
            <a:ext cx="228600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3790950"/>
            <a:ext cx="238125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4438650"/>
            <a:ext cx="17145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4819650"/>
            <a:ext cx="190500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1333500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0" y="1752600"/>
            <a:ext cx="2686050" cy="533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1866900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24950" y="1752600"/>
            <a:ext cx="2686050" cy="533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39250" y="1866900"/>
            <a:ext cx="28575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0" y="2438400"/>
            <a:ext cx="2686050" cy="533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2552700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24950" y="2438400"/>
            <a:ext cx="2686050" cy="533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39250" y="2552700"/>
            <a:ext cx="257175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6500" y="3314700"/>
            <a:ext cx="257175" cy="228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86500" y="3962400"/>
            <a:ext cx="1283494" cy="8001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88486" y="4210050"/>
            <a:ext cx="200025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07152" y="3867150"/>
            <a:ext cx="1283494" cy="990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06024" y="4019550"/>
            <a:ext cx="285750" cy="3429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09138" y="4210050"/>
            <a:ext cx="200025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527804" y="3733800"/>
            <a:ext cx="1283494" cy="12573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007626" y="3886200"/>
            <a:ext cx="323850" cy="3429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381000" y="381000"/>
            <a:ext cx="1371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7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Introduction &amp; Objective</a:t>
            </a:r>
            <a:endParaRPr lang="en-US" sz="3600" dirty="0"/>
          </a:p>
        </p:txBody>
      </p:sp>
      <p:sp>
        <p:nvSpPr>
          <p:cNvPr id="33" name="Text 1"/>
          <p:cNvSpPr/>
          <p:nvPr/>
        </p:nvSpPr>
        <p:spPr>
          <a:xfrm>
            <a:off x="723900" y="1295400"/>
            <a:ext cx="5524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Purpose</a:t>
            </a:r>
            <a:endParaRPr lang="en-US" sz="1800" dirty="0"/>
          </a:p>
        </p:txBody>
      </p:sp>
      <p:sp>
        <p:nvSpPr>
          <p:cNvPr id="34" name="Text 2"/>
          <p:cNvSpPr/>
          <p:nvPr/>
        </p:nvSpPr>
        <p:spPr>
          <a:xfrm>
            <a:off x="381000" y="1752600"/>
            <a:ext cx="5524500" cy="12382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4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machine learning-based web application designed to estimate an employee's salary based on key attributes, automating processes that traditionally require manual analysis.</a:t>
            </a:r>
            <a:endParaRPr lang="en-US" sz="1500" dirty="0"/>
          </a:p>
        </p:txBody>
      </p:sp>
      <p:sp>
        <p:nvSpPr>
          <p:cNvPr id="35" name="Text 3"/>
          <p:cNvSpPr/>
          <p:nvPr/>
        </p:nvSpPr>
        <p:spPr>
          <a:xfrm>
            <a:off x="723900" y="3295650"/>
            <a:ext cx="5524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Benefits</a:t>
            </a:r>
            <a:endParaRPr lang="en-US" sz="1800" dirty="0"/>
          </a:p>
        </p:txBody>
      </p:sp>
      <p:sp>
        <p:nvSpPr>
          <p:cNvPr id="36" name="Text 4"/>
          <p:cNvSpPr/>
          <p:nvPr/>
        </p:nvSpPr>
        <p:spPr>
          <a:xfrm>
            <a:off x="733425" y="3752850"/>
            <a:ext cx="5172075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Beneficial for HR departments in compensation planning</a:t>
            </a:r>
            <a:endParaRPr lang="en-US" sz="1500" dirty="0"/>
          </a:p>
        </p:txBody>
      </p:sp>
      <p:sp>
        <p:nvSpPr>
          <p:cNvPr id="37" name="Text 5"/>
          <p:cNvSpPr/>
          <p:nvPr/>
        </p:nvSpPr>
        <p:spPr>
          <a:xfrm>
            <a:off x="666750" y="4400550"/>
            <a:ext cx="5082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Helpful for individuals in job market analysis</a:t>
            </a:r>
            <a:endParaRPr lang="en-US" sz="1500" dirty="0"/>
          </a:p>
        </p:txBody>
      </p:sp>
      <p:sp>
        <p:nvSpPr>
          <p:cNvPr id="38" name="Text 6"/>
          <p:cNvSpPr/>
          <p:nvPr/>
        </p:nvSpPr>
        <p:spPr>
          <a:xfrm>
            <a:off x="685800" y="4781550"/>
            <a:ext cx="5918954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Streamlines processes that require manual analysis</a:t>
            </a:r>
            <a:endParaRPr lang="en-US" sz="1500" dirty="0"/>
          </a:p>
        </p:txBody>
      </p:sp>
      <p:sp>
        <p:nvSpPr>
          <p:cNvPr id="39" name="Text 7"/>
          <p:cNvSpPr/>
          <p:nvPr/>
        </p:nvSpPr>
        <p:spPr>
          <a:xfrm>
            <a:off x="6629400" y="1295400"/>
            <a:ext cx="5524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Input Features</a:t>
            </a:r>
            <a:endParaRPr lang="en-US" sz="1800" dirty="0"/>
          </a:p>
        </p:txBody>
      </p:sp>
      <p:sp>
        <p:nvSpPr>
          <p:cNvPr id="40" name="Text 8"/>
          <p:cNvSpPr/>
          <p:nvPr/>
        </p:nvSpPr>
        <p:spPr>
          <a:xfrm>
            <a:off x="6743700" y="1885950"/>
            <a:ext cx="2243673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Years of Experience</a:t>
            </a:r>
            <a:endParaRPr lang="en-US" sz="1500" dirty="0"/>
          </a:p>
        </p:txBody>
      </p:sp>
      <p:sp>
        <p:nvSpPr>
          <p:cNvPr id="41" name="Text 9"/>
          <p:cNvSpPr/>
          <p:nvPr/>
        </p:nvSpPr>
        <p:spPr>
          <a:xfrm>
            <a:off x="9639300" y="1885950"/>
            <a:ext cx="1814334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Education Level</a:t>
            </a:r>
            <a:endParaRPr lang="en-US" sz="1500" dirty="0"/>
          </a:p>
        </p:txBody>
      </p:sp>
      <p:sp>
        <p:nvSpPr>
          <p:cNvPr id="42" name="Text 10"/>
          <p:cNvSpPr/>
          <p:nvPr/>
        </p:nvSpPr>
        <p:spPr>
          <a:xfrm>
            <a:off x="6743700" y="2571750"/>
            <a:ext cx="915114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Job Title</a:t>
            </a:r>
            <a:endParaRPr lang="en-US" sz="1500" dirty="0"/>
          </a:p>
        </p:txBody>
      </p:sp>
      <p:sp>
        <p:nvSpPr>
          <p:cNvPr id="43" name="Text 11"/>
          <p:cNvSpPr/>
          <p:nvPr/>
        </p:nvSpPr>
        <p:spPr>
          <a:xfrm>
            <a:off x="9610725" y="2571750"/>
            <a:ext cx="138338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Department</a:t>
            </a:r>
            <a:endParaRPr lang="en-US" sz="1500" dirty="0"/>
          </a:p>
        </p:txBody>
      </p:sp>
      <p:sp>
        <p:nvSpPr>
          <p:cNvPr id="44" name="Text 12"/>
          <p:cNvSpPr/>
          <p:nvPr/>
        </p:nvSpPr>
        <p:spPr>
          <a:xfrm>
            <a:off x="6657975" y="3276600"/>
            <a:ext cx="5524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45" name="Text 13"/>
          <p:cNvSpPr/>
          <p:nvPr/>
        </p:nvSpPr>
        <p:spPr>
          <a:xfrm>
            <a:off x="6341031" y="4343400"/>
            <a:ext cx="1174433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 Inputs</a:t>
            </a:r>
            <a:endParaRPr lang="en-US" sz="1350" dirty="0"/>
          </a:p>
        </p:txBody>
      </p:sp>
      <p:sp>
        <p:nvSpPr>
          <p:cNvPr id="46" name="Text 14"/>
          <p:cNvSpPr/>
          <p:nvPr/>
        </p:nvSpPr>
        <p:spPr>
          <a:xfrm>
            <a:off x="8461683" y="4438650"/>
            <a:ext cx="1174433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ML Model</a:t>
            </a:r>
            <a:endParaRPr lang="en-US" sz="1350" dirty="0"/>
          </a:p>
        </p:txBody>
      </p:sp>
      <p:sp>
        <p:nvSpPr>
          <p:cNvPr id="47" name="Text 15"/>
          <p:cNvSpPr/>
          <p:nvPr/>
        </p:nvSpPr>
        <p:spPr>
          <a:xfrm>
            <a:off x="10680204" y="4305300"/>
            <a:ext cx="978694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Predicted Salary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401" y="1011543"/>
            <a:ext cx="492748" cy="83441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833" y="4772107"/>
            <a:ext cx="552285" cy="55228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4758" y="1757409"/>
            <a:ext cx="1108983" cy="31423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250" y="952500"/>
            <a:ext cx="57150" cy="571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3600" y="1905000"/>
            <a:ext cx="57150" cy="571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95250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295400"/>
            <a:ext cx="5562600" cy="1600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4859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1543050"/>
            <a:ext cx="2476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1295400"/>
            <a:ext cx="5562600" cy="1600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14859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3675" y="1543050"/>
            <a:ext cx="2476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8500" y="21145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91650" y="2114550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48500" y="24955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91650" y="2495550"/>
            <a:ext cx="1333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1000" y="3200400"/>
            <a:ext cx="5562600" cy="1600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3390900"/>
            <a:ext cx="457200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7225" y="3448050"/>
            <a:ext cx="285750" cy="342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3200400"/>
            <a:ext cx="5562600" cy="1600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8900" y="3390900"/>
            <a:ext cx="457200" cy="457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24625" y="3448050"/>
            <a:ext cx="285750" cy="342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91625" y="3962400"/>
            <a:ext cx="28575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87063" y="3962400"/>
            <a:ext cx="219075" cy="3048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7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Tools &amp; Technologies</a:t>
            </a:r>
            <a:endParaRPr lang="en-US" sz="3600" dirty="0"/>
          </a:p>
        </p:txBody>
      </p:sp>
      <p:sp>
        <p:nvSpPr>
          <p:cNvPr id="29" name="Text 1"/>
          <p:cNvSpPr/>
          <p:nvPr/>
        </p:nvSpPr>
        <p:spPr>
          <a:xfrm>
            <a:off x="1181100" y="1562100"/>
            <a:ext cx="3708856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Programming Language</a:t>
            </a:r>
            <a:endParaRPr lang="en-US" sz="1800" dirty="0"/>
          </a:p>
        </p:txBody>
      </p:sp>
      <p:sp>
        <p:nvSpPr>
          <p:cNvPr id="30" name="Text 2"/>
          <p:cNvSpPr/>
          <p:nvPr/>
        </p:nvSpPr>
        <p:spPr>
          <a:xfrm>
            <a:off x="1181100" y="2057400"/>
            <a:ext cx="4572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 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Core language for development and machine learning</a:t>
            </a:r>
            <a:endParaRPr lang="en-US" sz="1500" dirty="0"/>
          </a:p>
        </p:txBody>
      </p:sp>
      <p:sp>
        <p:nvSpPr>
          <p:cNvPr id="31" name="Text 3"/>
          <p:cNvSpPr/>
          <p:nvPr/>
        </p:nvSpPr>
        <p:spPr>
          <a:xfrm>
            <a:off x="7048500" y="1562100"/>
            <a:ext cx="1364278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Libraries</a:t>
            </a:r>
            <a:endParaRPr lang="en-US" sz="1800" dirty="0"/>
          </a:p>
        </p:txBody>
      </p:sp>
      <p:sp>
        <p:nvSpPr>
          <p:cNvPr id="32" name="Text 4"/>
          <p:cNvSpPr/>
          <p:nvPr/>
        </p:nvSpPr>
        <p:spPr>
          <a:xfrm>
            <a:off x="7277100" y="2057400"/>
            <a:ext cx="73527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Pandas</a:t>
            </a:r>
            <a:endParaRPr lang="en-US" sz="1350" dirty="0"/>
          </a:p>
        </p:txBody>
      </p:sp>
      <p:sp>
        <p:nvSpPr>
          <p:cNvPr id="33" name="Text 5"/>
          <p:cNvSpPr/>
          <p:nvPr/>
        </p:nvSpPr>
        <p:spPr>
          <a:xfrm>
            <a:off x="9658350" y="2057400"/>
            <a:ext cx="1153358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Scikit-learn</a:t>
            </a:r>
            <a:endParaRPr lang="en-US" sz="1350" dirty="0"/>
          </a:p>
        </p:txBody>
      </p:sp>
      <p:sp>
        <p:nvSpPr>
          <p:cNvPr id="34" name="Text 6"/>
          <p:cNvSpPr/>
          <p:nvPr/>
        </p:nvSpPr>
        <p:spPr>
          <a:xfrm>
            <a:off x="7277100" y="2438400"/>
            <a:ext cx="1023521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Matplotlib</a:t>
            </a:r>
            <a:endParaRPr lang="en-US" sz="1350" dirty="0"/>
          </a:p>
        </p:txBody>
      </p:sp>
      <p:sp>
        <p:nvSpPr>
          <p:cNvPr id="35" name="Text 7"/>
          <p:cNvSpPr/>
          <p:nvPr/>
        </p:nvSpPr>
        <p:spPr>
          <a:xfrm>
            <a:off x="9601200" y="2438400"/>
            <a:ext cx="562213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Joblib</a:t>
            </a:r>
            <a:endParaRPr lang="en-US" sz="1350" dirty="0"/>
          </a:p>
        </p:txBody>
      </p:sp>
      <p:sp>
        <p:nvSpPr>
          <p:cNvPr id="36" name="Text 8"/>
          <p:cNvSpPr/>
          <p:nvPr/>
        </p:nvSpPr>
        <p:spPr>
          <a:xfrm>
            <a:off x="1181100" y="3467100"/>
            <a:ext cx="1721822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Framework</a:t>
            </a:r>
            <a:endParaRPr lang="en-US" sz="1800" dirty="0"/>
          </a:p>
        </p:txBody>
      </p:sp>
      <p:sp>
        <p:nvSpPr>
          <p:cNvPr id="37" name="Text 9"/>
          <p:cNvSpPr/>
          <p:nvPr/>
        </p:nvSpPr>
        <p:spPr>
          <a:xfrm>
            <a:off x="1295400" y="3962400"/>
            <a:ext cx="316929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38" name="Text 10"/>
          <p:cNvSpPr/>
          <p:nvPr/>
        </p:nvSpPr>
        <p:spPr>
          <a:xfrm>
            <a:off x="1295400" y="4229100"/>
            <a:ext cx="3803154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Building interactive web applications</a:t>
            </a:r>
            <a:endParaRPr lang="en-US" sz="1350" dirty="0"/>
          </a:p>
        </p:txBody>
      </p:sp>
      <p:sp>
        <p:nvSpPr>
          <p:cNvPr id="39" name="Text 11"/>
          <p:cNvSpPr/>
          <p:nvPr/>
        </p:nvSpPr>
        <p:spPr>
          <a:xfrm>
            <a:off x="7048500" y="3467100"/>
            <a:ext cx="293626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Development Tools</a:t>
            </a:r>
            <a:endParaRPr lang="en-US" sz="1800" dirty="0"/>
          </a:p>
        </p:txBody>
      </p:sp>
      <p:sp>
        <p:nvSpPr>
          <p:cNvPr id="40" name="Text 12"/>
          <p:cNvSpPr/>
          <p:nvPr/>
        </p:nvSpPr>
        <p:spPr>
          <a:xfrm>
            <a:off x="7048500" y="4038600"/>
            <a:ext cx="14478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Jupyter Notebook</a:t>
            </a:r>
            <a:endParaRPr lang="en-US" sz="1350" dirty="0"/>
          </a:p>
        </p:txBody>
      </p:sp>
      <p:sp>
        <p:nvSpPr>
          <p:cNvPr id="41" name="Text 13"/>
          <p:cNvSpPr/>
          <p:nvPr/>
        </p:nvSpPr>
        <p:spPr>
          <a:xfrm>
            <a:off x="8974634" y="4343400"/>
            <a:ext cx="863501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VS Code</a:t>
            </a:r>
            <a:endParaRPr lang="en-US" sz="1350" dirty="0"/>
          </a:p>
        </p:txBody>
      </p:sp>
      <p:sp>
        <p:nvSpPr>
          <p:cNvPr id="42" name="Text 14"/>
          <p:cNvSpPr/>
          <p:nvPr/>
        </p:nvSpPr>
        <p:spPr>
          <a:xfrm>
            <a:off x="10599390" y="4343400"/>
            <a:ext cx="71312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GitHub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833" y="1533607"/>
            <a:ext cx="552285" cy="55228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276" y="3881804"/>
            <a:ext cx="587998" cy="99939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0127" y="5225630"/>
            <a:ext cx="1384997" cy="38818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50" y="4895850"/>
            <a:ext cx="57150" cy="571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9850" y="5372100"/>
            <a:ext cx="57150" cy="571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95250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428750"/>
            <a:ext cx="2407444" cy="2590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9922" y="1657350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3747" y="1790700"/>
            <a:ext cx="3619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7044" y="2571750"/>
            <a:ext cx="142875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8519" y="1562100"/>
            <a:ext cx="2407444" cy="2324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87441" y="1790700"/>
            <a:ext cx="6096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1266" y="1924050"/>
            <a:ext cx="361950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4563" y="2571750"/>
            <a:ext cx="142875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6038" y="1524000"/>
            <a:ext cx="2407444" cy="2400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94959" y="1752600"/>
            <a:ext cx="609600" cy="609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75934" y="1885950"/>
            <a:ext cx="24765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32081" y="2571750"/>
            <a:ext cx="142875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03556" y="1657350"/>
            <a:ext cx="2407444" cy="2133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02478" y="1885950"/>
            <a:ext cx="609600" cy="609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64403" y="2019300"/>
            <a:ext cx="285750" cy="342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1000" y="4324350"/>
            <a:ext cx="11430000" cy="20193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4552950"/>
            <a:ext cx="257175" cy="228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4962525"/>
            <a:ext cx="171450" cy="1714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5572125"/>
            <a:ext cx="171450" cy="1714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48400" y="4962525"/>
            <a:ext cx="171450" cy="1714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48400" y="5572125"/>
            <a:ext cx="171450" cy="17145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81000" y="381000"/>
            <a:ext cx="1371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7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Workflow &amp; Working</a:t>
            </a:r>
            <a:endParaRPr lang="en-US" sz="3600" dirty="0"/>
          </a:p>
        </p:txBody>
      </p:sp>
      <p:sp>
        <p:nvSpPr>
          <p:cNvPr id="32" name="Text 1"/>
          <p:cNvSpPr/>
          <p:nvPr/>
        </p:nvSpPr>
        <p:spPr>
          <a:xfrm>
            <a:off x="609600" y="2419350"/>
            <a:ext cx="1950244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Data Preprocessing</a:t>
            </a:r>
            <a:endParaRPr lang="en-US" sz="1500" dirty="0"/>
          </a:p>
        </p:txBody>
      </p:sp>
      <p:sp>
        <p:nvSpPr>
          <p:cNvPr id="33" name="Text 2"/>
          <p:cNvSpPr/>
          <p:nvPr/>
        </p:nvSpPr>
        <p:spPr>
          <a:xfrm>
            <a:off x="609600" y="3028950"/>
            <a:ext cx="1950244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Cleaning and preparing raw data, encoding categorical variables using pandas.get_dummies()</a:t>
            </a:r>
            <a:endParaRPr lang="en-US" sz="1050" dirty="0"/>
          </a:p>
        </p:txBody>
      </p:sp>
      <p:sp>
        <p:nvSpPr>
          <p:cNvPr id="34" name="Text 3"/>
          <p:cNvSpPr/>
          <p:nvPr/>
        </p:nvSpPr>
        <p:spPr>
          <a:xfrm>
            <a:off x="3476938" y="2552700"/>
            <a:ext cx="223045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Model Training</a:t>
            </a:r>
            <a:endParaRPr lang="en-US" sz="1500" dirty="0"/>
          </a:p>
        </p:txBody>
      </p:sp>
      <p:sp>
        <p:nvSpPr>
          <p:cNvPr id="35" name="Text 4"/>
          <p:cNvSpPr/>
          <p:nvPr/>
        </p:nvSpPr>
        <p:spPr>
          <a:xfrm>
            <a:off x="3617119" y="2895600"/>
            <a:ext cx="1950244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Building a regression model using Scikit-learn to learn relationships between attributes and salary</a:t>
            </a:r>
            <a:endParaRPr lang="en-US" sz="1050" dirty="0"/>
          </a:p>
        </p:txBody>
      </p:sp>
      <p:sp>
        <p:nvSpPr>
          <p:cNvPr id="36" name="Text 5"/>
          <p:cNvSpPr/>
          <p:nvPr/>
        </p:nvSpPr>
        <p:spPr>
          <a:xfrm>
            <a:off x="6624638" y="2514600"/>
            <a:ext cx="1950244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Saving Artifacts</a:t>
            </a:r>
            <a:endParaRPr lang="en-US" sz="1500" dirty="0"/>
          </a:p>
        </p:txBody>
      </p:sp>
      <p:sp>
        <p:nvSpPr>
          <p:cNvPr id="37" name="Text 6"/>
          <p:cNvSpPr/>
          <p:nvPr/>
        </p:nvSpPr>
        <p:spPr>
          <a:xfrm>
            <a:off x="6624638" y="3124200"/>
            <a:ext cx="1950244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Saving the trained model and preprocessor using joblib for deployment</a:t>
            </a:r>
            <a:endParaRPr lang="en-US" sz="1050" dirty="0"/>
          </a:p>
        </p:txBody>
      </p:sp>
      <p:sp>
        <p:nvSpPr>
          <p:cNvPr id="38" name="Text 7"/>
          <p:cNvSpPr/>
          <p:nvPr/>
        </p:nvSpPr>
        <p:spPr>
          <a:xfrm>
            <a:off x="9665390" y="2647950"/>
            <a:ext cx="1883628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Deployment</a:t>
            </a:r>
            <a:endParaRPr lang="en-US" sz="1500" dirty="0"/>
          </a:p>
        </p:txBody>
      </p:sp>
      <p:sp>
        <p:nvSpPr>
          <p:cNvPr id="39" name="Text 8"/>
          <p:cNvSpPr/>
          <p:nvPr/>
        </p:nvSpPr>
        <p:spPr>
          <a:xfrm>
            <a:off x="9632156" y="2990850"/>
            <a:ext cx="1950244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Creating an interactive web application using Streamlit for user interaction</a:t>
            </a:r>
            <a:endParaRPr lang="en-US" sz="1050" dirty="0"/>
          </a:p>
        </p:txBody>
      </p:sp>
      <p:sp>
        <p:nvSpPr>
          <p:cNvPr id="40" name="Text 9"/>
          <p:cNvSpPr/>
          <p:nvPr/>
        </p:nvSpPr>
        <p:spPr>
          <a:xfrm>
            <a:off x="942975" y="4514850"/>
            <a:ext cx="1104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Workflow Explanation</a:t>
            </a:r>
            <a:endParaRPr lang="en-US" sz="1800" dirty="0"/>
          </a:p>
        </p:txBody>
      </p:sp>
      <p:sp>
        <p:nvSpPr>
          <p:cNvPr id="41" name="Text 10"/>
          <p:cNvSpPr/>
          <p:nvPr/>
        </p:nvSpPr>
        <p:spPr>
          <a:xfrm>
            <a:off x="819150" y="4933950"/>
            <a:ext cx="53721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Preprocessing: 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Transforms raw data into a suitable format for ML models</a:t>
            </a:r>
            <a:endParaRPr lang="en-US" sz="1350" dirty="0"/>
          </a:p>
        </p:txBody>
      </p:sp>
      <p:sp>
        <p:nvSpPr>
          <p:cNvPr id="42" name="Text 11"/>
          <p:cNvSpPr/>
          <p:nvPr/>
        </p:nvSpPr>
        <p:spPr>
          <a:xfrm>
            <a:off x="819150" y="5543550"/>
            <a:ext cx="53721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Training: 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model learns patterns from employee attributes to predict salaries</a:t>
            </a:r>
            <a:endParaRPr lang="en-US" sz="1350" dirty="0"/>
          </a:p>
        </p:txBody>
      </p:sp>
      <p:sp>
        <p:nvSpPr>
          <p:cNvPr id="43" name="Text 12"/>
          <p:cNvSpPr/>
          <p:nvPr/>
        </p:nvSpPr>
        <p:spPr>
          <a:xfrm>
            <a:off x="6496050" y="4933950"/>
            <a:ext cx="53721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Saving Artifacts: 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Preserves the trained model for later use without retraining</a:t>
            </a:r>
            <a:endParaRPr lang="en-US" sz="1350" dirty="0"/>
          </a:p>
        </p:txBody>
      </p:sp>
      <p:sp>
        <p:nvSpPr>
          <p:cNvPr id="44" name="Text 13"/>
          <p:cNvSpPr/>
          <p:nvPr/>
        </p:nvSpPr>
        <p:spPr>
          <a:xfrm>
            <a:off x="6496050" y="5543550"/>
            <a:ext cx="53721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Deployment: 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Makes the application accessible through a web interface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086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833" y="1533607"/>
            <a:ext cx="552285" cy="55228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276" y="4110404"/>
            <a:ext cx="587998" cy="99939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2350" y="1428750"/>
            <a:ext cx="57150" cy="571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5124450"/>
            <a:ext cx="57150" cy="571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9850" y="5600700"/>
            <a:ext cx="57150" cy="571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95250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019300"/>
            <a:ext cx="257175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400300"/>
            <a:ext cx="5562600" cy="3657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400300"/>
            <a:ext cx="5562600" cy="3657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2019300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2400300"/>
            <a:ext cx="5562600" cy="2438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2400300"/>
            <a:ext cx="5562600" cy="495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44300" y="25717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33909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67800" y="3390900"/>
            <a:ext cx="1905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36957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67800" y="3695700"/>
            <a:ext cx="1714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4038600"/>
            <a:ext cx="5181600" cy="952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38900" y="5295900"/>
            <a:ext cx="5181600" cy="952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8900" y="5295900"/>
            <a:ext cx="4145161" cy="9525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7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Output Screenshots</a:t>
            </a:r>
            <a:endParaRPr lang="en-US" sz="3600" dirty="0"/>
          </a:p>
        </p:txBody>
      </p:sp>
      <p:sp>
        <p:nvSpPr>
          <p:cNvPr id="25" name="Text 1"/>
          <p:cNvSpPr/>
          <p:nvPr/>
        </p:nvSpPr>
        <p:spPr>
          <a:xfrm>
            <a:off x="381000" y="1219200"/>
            <a:ext cx="1143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Salary Prediction App provides a user-friendly interface for inputting employee details and displaying estimated salaries.</a:t>
            </a:r>
            <a:endParaRPr lang="en-US" sz="1500" dirty="0"/>
          </a:p>
        </p:txBody>
      </p:sp>
      <p:sp>
        <p:nvSpPr>
          <p:cNvPr id="26" name="Text 2"/>
          <p:cNvSpPr/>
          <p:nvPr/>
        </p:nvSpPr>
        <p:spPr>
          <a:xfrm>
            <a:off x="752475" y="1981200"/>
            <a:ext cx="5562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 Input Interface</a:t>
            </a:r>
            <a:endParaRPr lang="en-US" sz="1800" dirty="0"/>
          </a:p>
        </p:txBody>
      </p:sp>
      <p:sp>
        <p:nvSpPr>
          <p:cNvPr id="27" name="Text 3"/>
          <p:cNvSpPr/>
          <p:nvPr/>
        </p:nvSpPr>
        <p:spPr>
          <a:xfrm>
            <a:off x="381000" y="6172200"/>
            <a:ext cx="55626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 input: 1.5 years experience, Bachelor's degree, Analyst in HR</a:t>
            </a:r>
            <a:endParaRPr lang="en-US" sz="1350" dirty="0"/>
          </a:p>
        </p:txBody>
      </p:sp>
      <p:sp>
        <p:nvSpPr>
          <p:cNvPr id="28" name="Text 4"/>
          <p:cNvSpPr/>
          <p:nvPr/>
        </p:nvSpPr>
        <p:spPr>
          <a:xfrm>
            <a:off x="6591300" y="1981200"/>
            <a:ext cx="5562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Prediction Output</a:t>
            </a:r>
            <a:endParaRPr lang="en-US" sz="1800" dirty="0"/>
          </a:p>
        </p:txBody>
      </p:sp>
      <p:sp>
        <p:nvSpPr>
          <p:cNvPr id="29" name="Text 5"/>
          <p:cNvSpPr/>
          <p:nvPr/>
        </p:nvSpPr>
        <p:spPr>
          <a:xfrm>
            <a:off x="6362700" y="2514600"/>
            <a:ext cx="2542103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Salary Prediction Results</a:t>
            </a:r>
            <a:endParaRPr lang="en-US" sz="1350" dirty="0"/>
          </a:p>
        </p:txBody>
      </p:sp>
      <p:sp>
        <p:nvSpPr>
          <p:cNvPr id="30" name="Text 6"/>
          <p:cNvSpPr/>
          <p:nvPr/>
        </p:nvSpPr>
        <p:spPr>
          <a:xfrm>
            <a:off x="6438900" y="3086100"/>
            <a:ext cx="5181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Employee Details: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6667500" y="3352800"/>
            <a:ext cx="232189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Years of Experience: 5.00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9334500" y="3352800"/>
            <a:ext cx="1800404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Education: Master's</a:t>
            </a:r>
            <a:endParaRPr lang="en-US" sz="1200" dirty="0"/>
          </a:p>
        </p:txBody>
      </p:sp>
      <p:sp>
        <p:nvSpPr>
          <p:cNvPr id="33" name="Text 9"/>
          <p:cNvSpPr/>
          <p:nvPr/>
        </p:nvSpPr>
        <p:spPr>
          <a:xfrm>
            <a:off x="6667500" y="3657600"/>
            <a:ext cx="165342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Job Title: Manager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9315450" y="3657600"/>
            <a:ext cx="1926134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Department: Finance</a:t>
            </a:r>
            <a:endParaRPr lang="en-US" sz="1200" dirty="0"/>
          </a:p>
        </p:txBody>
      </p:sp>
      <p:sp>
        <p:nvSpPr>
          <p:cNvPr id="35" name="Text 11"/>
          <p:cNvSpPr/>
          <p:nvPr/>
        </p:nvSpPr>
        <p:spPr>
          <a:xfrm>
            <a:off x="6591300" y="4191000"/>
            <a:ext cx="4876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Predicted Salary: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6591300" y="4457700"/>
            <a:ext cx="585216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$278,573.12</a:t>
            </a:r>
            <a:endParaRPr lang="en-US" sz="2700" dirty="0"/>
          </a:p>
        </p:txBody>
      </p:sp>
      <p:sp>
        <p:nvSpPr>
          <p:cNvPr id="38" name="Text 14"/>
          <p:cNvSpPr/>
          <p:nvPr/>
        </p:nvSpPr>
        <p:spPr>
          <a:xfrm>
            <a:off x="6248400" y="5429250"/>
            <a:ext cx="5562600" cy="61468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 output: Manager with Master's degree in Finance department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007" y="1318916"/>
            <a:ext cx="561935" cy="79116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226" y="4308842"/>
            <a:ext cx="311098" cy="81206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6002" y="5207585"/>
            <a:ext cx="1222746" cy="23378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1350" y="1238250"/>
            <a:ext cx="57150" cy="571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250" y="5086350"/>
            <a:ext cx="57150" cy="571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9350" y="5276850"/>
            <a:ext cx="57150" cy="5715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11794331" y="6477000"/>
            <a:ext cx="294322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6/8</a:t>
            </a:r>
            <a:endParaRPr lang="en-US" sz="1200" dirty="0"/>
          </a:p>
        </p:txBody>
      </p:sp>
      <p:pic>
        <p:nvPicPr>
          <p:cNvPr id="11" name="Picture 10" descr="Screenshot 2025-11-13 2006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8770" y="0"/>
            <a:ext cx="9013825" cy="61207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833" y="1247857"/>
            <a:ext cx="552285" cy="55228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026" y="4358054"/>
            <a:ext cx="587998" cy="99939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877" y="4939880"/>
            <a:ext cx="1384997" cy="38818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0350" y="1143000"/>
            <a:ext cx="57150" cy="571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5372100"/>
            <a:ext cx="57150" cy="571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600" y="5086350"/>
            <a:ext cx="57150" cy="571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87630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1181100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1600200"/>
            <a:ext cx="5638800" cy="1143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1790700"/>
            <a:ext cx="3619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2895600"/>
            <a:ext cx="5638800" cy="1143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086100"/>
            <a:ext cx="2857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" y="4191000"/>
            <a:ext cx="5638800" cy="1143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4381500"/>
            <a:ext cx="323850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1181100"/>
            <a:ext cx="228600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1600200"/>
            <a:ext cx="5638800" cy="1104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1752600"/>
            <a:ext cx="142875" cy="190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2895600"/>
            <a:ext cx="5638800" cy="1104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3048000"/>
            <a:ext cx="190500" cy="190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4191000"/>
            <a:ext cx="5638800" cy="1104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38900" y="4343400"/>
            <a:ext cx="238125" cy="1905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04800" y="304800"/>
            <a:ext cx="1389888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7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Applications &amp; Challenges</a:t>
            </a:r>
            <a:endParaRPr lang="en-US" sz="3600" dirty="0"/>
          </a:p>
        </p:txBody>
      </p:sp>
      <p:sp>
        <p:nvSpPr>
          <p:cNvPr id="25" name="Text 1"/>
          <p:cNvSpPr/>
          <p:nvPr/>
        </p:nvSpPr>
        <p:spPr>
          <a:xfrm>
            <a:off x="647700" y="1143000"/>
            <a:ext cx="5638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Applications</a:t>
            </a:r>
            <a:endParaRPr lang="en-US" sz="1800" dirty="0"/>
          </a:p>
        </p:txBody>
      </p:sp>
      <p:sp>
        <p:nvSpPr>
          <p:cNvPr id="26" name="Text 2"/>
          <p:cNvSpPr/>
          <p:nvPr/>
        </p:nvSpPr>
        <p:spPr>
          <a:xfrm>
            <a:off x="971550" y="1752600"/>
            <a:ext cx="48196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HR Salary Analysis</a:t>
            </a:r>
            <a:endParaRPr lang="en-US" sz="1500" dirty="0"/>
          </a:p>
        </p:txBody>
      </p:sp>
      <p:sp>
        <p:nvSpPr>
          <p:cNvPr id="27" name="Text 3"/>
          <p:cNvSpPr/>
          <p:nvPr/>
        </p:nvSpPr>
        <p:spPr>
          <a:xfrm>
            <a:off x="971550" y="2057400"/>
            <a:ext cx="481965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Helps HR departments benchmark salaries, ensure fair compensation, and inform salary negotiations.</a:t>
            </a:r>
            <a:endParaRPr lang="en-US" sz="1350" dirty="0"/>
          </a:p>
        </p:txBody>
      </p:sp>
      <p:sp>
        <p:nvSpPr>
          <p:cNvPr id="28" name="Text 4"/>
          <p:cNvSpPr/>
          <p:nvPr/>
        </p:nvSpPr>
        <p:spPr>
          <a:xfrm>
            <a:off x="895350" y="3048000"/>
            <a:ext cx="587502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Job Market Research Tools</a:t>
            </a:r>
            <a:endParaRPr lang="en-US" sz="1500" dirty="0"/>
          </a:p>
        </p:txBody>
      </p:sp>
      <p:sp>
        <p:nvSpPr>
          <p:cNvPr id="29" name="Text 5"/>
          <p:cNvSpPr/>
          <p:nvPr/>
        </p:nvSpPr>
        <p:spPr>
          <a:xfrm>
            <a:off x="895350" y="3352800"/>
            <a:ext cx="489585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Equips job seekers and recruiters with insights on salary expectations for different roles.</a:t>
            </a:r>
            <a:endParaRPr lang="en-US" sz="1350" dirty="0"/>
          </a:p>
        </p:txBody>
      </p:sp>
      <p:sp>
        <p:nvSpPr>
          <p:cNvPr id="30" name="Text 6"/>
          <p:cNvSpPr/>
          <p:nvPr/>
        </p:nvSpPr>
        <p:spPr>
          <a:xfrm>
            <a:off x="933450" y="4343400"/>
            <a:ext cx="48577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Predictive Analytics</a:t>
            </a:r>
            <a:endParaRPr lang="en-US" sz="1500" dirty="0"/>
          </a:p>
        </p:txBody>
      </p:sp>
      <p:sp>
        <p:nvSpPr>
          <p:cNvPr id="31" name="Text 7"/>
          <p:cNvSpPr/>
          <p:nvPr/>
        </p:nvSpPr>
        <p:spPr>
          <a:xfrm>
            <a:off x="933450" y="4648200"/>
            <a:ext cx="485775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Enables organizations to forecast future compensation costs and develop competitive salary structures.</a:t>
            </a:r>
            <a:endParaRPr lang="en-US" sz="1350" dirty="0"/>
          </a:p>
        </p:txBody>
      </p:sp>
      <p:sp>
        <p:nvSpPr>
          <p:cNvPr id="32" name="Text 8"/>
          <p:cNvSpPr/>
          <p:nvPr/>
        </p:nvSpPr>
        <p:spPr>
          <a:xfrm>
            <a:off x="6591300" y="1143000"/>
            <a:ext cx="676656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Challenges &amp; Solutions</a:t>
            </a:r>
            <a:endParaRPr lang="en-US" sz="1800" dirty="0"/>
          </a:p>
        </p:txBody>
      </p:sp>
      <p:sp>
        <p:nvSpPr>
          <p:cNvPr id="33" name="Text 9"/>
          <p:cNvSpPr/>
          <p:nvPr/>
        </p:nvSpPr>
        <p:spPr>
          <a:xfrm>
            <a:off x="6657975" y="1714500"/>
            <a:ext cx="5334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File Not Found</a:t>
            </a:r>
            <a:endParaRPr lang="en-US" sz="1500" dirty="0"/>
          </a:p>
        </p:txBody>
      </p:sp>
      <p:sp>
        <p:nvSpPr>
          <p:cNvPr id="34" name="Text 10"/>
          <p:cNvSpPr/>
          <p:nvPr/>
        </p:nvSpPr>
        <p:spPr>
          <a:xfrm>
            <a:off x="6438900" y="2019300"/>
            <a:ext cx="6400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Problem: 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file not found</a:t>
            </a:r>
            <a:endParaRPr lang="en-US" sz="1350" dirty="0"/>
          </a:p>
        </p:txBody>
      </p:sp>
      <p:sp>
        <p:nvSpPr>
          <p:cNvPr id="35" name="Text 11"/>
          <p:cNvSpPr/>
          <p:nvPr/>
        </p:nvSpPr>
        <p:spPr>
          <a:xfrm>
            <a:off x="6438900" y="2324100"/>
            <a:ext cx="6400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Solution: 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Verified working directory</a:t>
            </a:r>
            <a:endParaRPr lang="en-US" sz="1350" dirty="0"/>
          </a:p>
        </p:txBody>
      </p:sp>
      <p:sp>
        <p:nvSpPr>
          <p:cNvPr id="36" name="Text 12"/>
          <p:cNvSpPr/>
          <p:nvPr/>
        </p:nvSpPr>
        <p:spPr>
          <a:xfrm>
            <a:off x="6705600" y="3009900"/>
            <a:ext cx="5334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Mismatch</a:t>
            </a:r>
            <a:endParaRPr lang="en-US" sz="1500" dirty="0"/>
          </a:p>
        </p:txBody>
      </p:sp>
      <p:sp>
        <p:nvSpPr>
          <p:cNvPr id="37" name="Text 13"/>
          <p:cNvSpPr/>
          <p:nvPr/>
        </p:nvSpPr>
        <p:spPr>
          <a:xfrm>
            <a:off x="6438900" y="3314700"/>
            <a:ext cx="6400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Problem: 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columns don't match model</a:t>
            </a:r>
            <a:endParaRPr lang="en-US" sz="1350" dirty="0"/>
          </a:p>
        </p:txBody>
      </p:sp>
      <p:sp>
        <p:nvSpPr>
          <p:cNvPr id="38" name="Text 14"/>
          <p:cNvSpPr/>
          <p:nvPr/>
        </p:nvSpPr>
        <p:spPr>
          <a:xfrm>
            <a:off x="6438900" y="3619500"/>
            <a:ext cx="6400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Solution: 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Used reindex() to align columns</a:t>
            </a:r>
            <a:endParaRPr lang="en-US" sz="1350" dirty="0"/>
          </a:p>
        </p:txBody>
      </p:sp>
      <p:sp>
        <p:nvSpPr>
          <p:cNvPr id="39" name="Text 15"/>
          <p:cNvSpPr/>
          <p:nvPr/>
        </p:nvSpPr>
        <p:spPr>
          <a:xfrm>
            <a:off x="6753225" y="4305300"/>
            <a:ext cx="5334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Deployment Issues</a:t>
            </a:r>
            <a:endParaRPr lang="en-US" sz="1500" dirty="0"/>
          </a:p>
        </p:txBody>
      </p:sp>
      <p:sp>
        <p:nvSpPr>
          <p:cNvPr id="40" name="Text 16"/>
          <p:cNvSpPr/>
          <p:nvPr/>
        </p:nvSpPr>
        <p:spPr>
          <a:xfrm>
            <a:off x="6438900" y="4610100"/>
            <a:ext cx="6400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Problem: 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Deployment failures</a:t>
            </a:r>
            <a:endParaRPr lang="en-US" sz="1350" dirty="0"/>
          </a:p>
        </p:txBody>
      </p:sp>
      <p:sp>
        <p:nvSpPr>
          <p:cNvPr id="41" name="Text 17"/>
          <p:cNvSpPr/>
          <p:nvPr/>
        </p:nvSpPr>
        <p:spPr>
          <a:xfrm>
            <a:off x="6438900" y="4914900"/>
            <a:ext cx="6400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Solution: 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Added requirements.txt</a:t>
            </a:r>
            <a:endParaRPr lang="en-US" sz="1350" dirty="0"/>
          </a:p>
        </p:txBody>
      </p:sp>
      <p:sp>
        <p:nvSpPr>
          <p:cNvPr id="42" name="Text 18"/>
          <p:cNvSpPr/>
          <p:nvPr/>
        </p:nvSpPr>
        <p:spPr>
          <a:xfrm>
            <a:off x="11794331" y="6477000"/>
            <a:ext cx="294322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7/8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0230" y="1085255"/>
            <a:ext cx="686991" cy="68699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089" y="3805696"/>
            <a:ext cx="730873" cy="124685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995" y="5474402"/>
            <a:ext cx="1661010" cy="46214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6100" y="952500"/>
            <a:ext cx="57150" cy="571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5086350"/>
            <a:ext cx="57150" cy="571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600" y="5657850"/>
            <a:ext cx="57150" cy="571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95250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333500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1790700"/>
            <a:ext cx="3613100" cy="1714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019300"/>
            <a:ext cx="426988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620" y="20955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84600" y="1790700"/>
            <a:ext cx="3613249" cy="1714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75100" y="2019300"/>
            <a:ext cx="434132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92079" y="2095500"/>
            <a:ext cx="200025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3695700"/>
            <a:ext cx="3613100" cy="1638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886200"/>
            <a:ext cx="45720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1513" y="3962400"/>
            <a:ext cx="257175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84600" y="3695700"/>
            <a:ext cx="3613249" cy="1638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75100" y="3886200"/>
            <a:ext cx="457200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60825" y="3962400"/>
            <a:ext cx="28575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02650" y="1333500"/>
            <a:ext cx="200025" cy="228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02650" y="1790700"/>
            <a:ext cx="3708350" cy="19431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51950" y="2019300"/>
            <a:ext cx="609600" cy="609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90063" y="2133600"/>
            <a:ext cx="333375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06011" y="4914900"/>
            <a:ext cx="152400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81000" y="381000"/>
            <a:ext cx="1371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7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Future Scope &amp; Project Link</a:t>
            </a:r>
            <a:endParaRPr lang="en-US" sz="3600" dirty="0"/>
          </a:p>
        </p:txBody>
      </p:sp>
      <p:sp>
        <p:nvSpPr>
          <p:cNvPr id="29" name="Text 1"/>
          <p:cNvSpPr/>
          <p:nvPr/>
        </p:nvSpPr>
        <p:spPr>
          <a:xfrm>
            <a:off x="723900" y="1295400"/>
            <a:ext cx="74168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Enhancement Opportunities</a:t>
            </a:r>
            <a:endParaRPr lang="en-US" sz="1800" dirty="0"/>
          </a:p>
        </p:txBody>
      </p:sp>
      <p:sp>
        <p:nvSpPr>
          <p:cNvPr id="30" name="Text 2"/>
          <p:cNvSpPr/>
          <p:nvPr/>
        </p:nvSpPr>
        <p:spPr>
          <a:xfrm>
            <a:off x="1150888" y="1981200"/>
            <a:ext cx="2652713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Deep Learning Integration</a:t>
            </a:r>
            <a:endParaRPr lang="en-US" sz="1500" dirty="0"/>
          </a:p>
        </p:txBody>
      </p:sp>
      <p:sp>
        <p:nvSpPr>
          <p:cNvPr id="31" name="Text 3"/>
          <p:cNvSpPr/>
          <p:nvPr/>
        </p:nvSpPr>
        <p:spPr>
          <a:xfrm>
            <a:off x="571500" y="2628900"/>
            <a:ext cx="32321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 model accuracy using advanced neural networks and deep learning techniques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4961632" y="1981200"/>
            <a:ext cx="2645718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Database Implementation</a:t>
            </a:r>
            <a:endParaRPr lang="en-US" sz="1500" dirty="0"/>
          </a:p>
        </p:txBody>
      </p:sp>
      <p:sp>
        <p:nvSpPr>
          <p:cNvPr id="33" name="Text 5"/>
          <p:cNvSpPr/>
          <p:nvPr/>
        </p:nvSpPr>
        <p:spPr>
          <a:xfrm>
            <a:off x="4375100" y="2628900"/>
            <a:ext cx="3232249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 database for storing user records and prediction history</a:t>
            </a:r>
            <a:endParaRPr lang="en-US" sz="1200" dirty="0"/>
          </a:p>
        </p:txBody>
      </p:sp>
      <p:sp>
        <p:nvSpPr>
          <p:cNvPr id="34" name="Text 6"/>
          <p:cNvSpPr/>
          <p:nvPr/>
        </p:nvSpPr>
        <p:spPr>
          <a:xfrm>
            <a:off x="1181100" y="3981450"/>
            <a:ext cx="2042934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 Analytics</a:t>
            </a:r>
            <a:endParaRPr lang="en-US" sz="1500" dirty="0"/>
          </a:p>
        </p:txBody>
      </p:sp>
      <p:sp>
        <p:nvSpPr>
          <p:cNvPr id="35" name="Text 7"/>
          <p:cNvSpPr/>
          <p:nvPr/>
        </p:nvSpPr>
        <p:spPr>
          <a:xfrm>
            <a:off x="571500" y="4457700"/>
            <a:ext cx="32321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 interactive dashboards for deeper salary market insights and visual analytics</a:t>
            </a:r>
            <a:endParaRPr lang="en-US" sz="1200" dirty="0"/>
          </a:p>
        </p:txBody>
      </p:sp>
      <p:sp>
        <p:nvSpPr>
          <p:cNvPr id="36" name="Text 8"/>
          <p:cNvSpPr/>
          <p:nvPr/>
        </p:nvSpPr>
        <p:spPr>
          <a:xfrm>
            <a:off x="4984700" y="3981450"/>
            <a:ext cx="23672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 Deployment</a:t>
            </a:r>
            <a:endParaRPr lang="en-US" sz="1500" dirty="0"/>
          </a:p>
        </p:txBody>
      </p:sp>
      <p:sp>
        <p:nvSpPr>
          <p:cNvPr id="37" name="Text 9"/>
          <p:cNvSpPr/>
          <p:nvPr/>
        </p:nvSpPr>
        <p:spPr>
          <a:xfrm>
            <a:off x="4375100" y="4457700"/>
            <a:ext cx="3232249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 on cloud platforms (Streamlit Cloud / AWS) for scalable, accessible service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8416975" y="1295400"/>
            <a:ext cx="445002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Repository</a:t>
            </a:r>
            <a:endParaRPr lang="en-US" sz="1800" dirty="0"/>
          </a:p>
        </p:txBody>
      </p:sp>
      <p:sp>
        <p:nvSpPr>
          <p:cNvPr id="39" name="Text 11"/>
          <p:cNvSpPr/>
          <p:nvPr/>
        </p:nvSpPr>
        <p:spPr>
          <a:xfrm>
            <a:off x="8773373" y="2800350"/>
            <a:ext cx="236690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40" name="Text 12"/>
          <p:cNvSpPr/>
          <p:nvPr/>
        </p:nvSpPr>
        <p:spPr>
          <a:xfrm>
            <a:off x="8331250" y="3124200"/>
            <a:ext cx="325115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Access the complete source code and documentation</a:t>
            </a:r>
            <a:endParaRPr lang="en-US" sz="1050" dirty="0"/>
          </a:p>
        </p:txBody>
      </p:sp>
      <p:sp>
        <p:nvSpPr>
          <p:cNvPr id="41" name="Text 13"/>
          <p:cNvSpPr/>
          <p:nvPr/>
        </p:nvSpPr>
        <p:spPr>
          <a:xfrm>
            <a:off x="8102650" y="4038600"/>
            <a:ext cx="370835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Thank You!</a:t>
            </a:r>
            <a:endParaRPr lang="en-US" sz="2250" dirty="0"/>
          </a:p>
        </p:txBody>
      </p:sp>
      <p:sp>
        <p:nvSpPr>
          <p:cNvPr id="42" name="Text 14"/>
          <p:cNvSpPr/>
          <p:nvPr/>
        </p:nvSpPr>
        <p:spPr>
          <a:xfrm>
            <a:off x="7731815" y="4495800"/>
            <a:ext cx="44500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questions or collaboration opportunities</a:t>
            </a:r>
            <a:endParaRPr lang="en-US" sz="1200" dirty="0"/>
          </a:p>
        </p:txBody>
      </p:sp>
      <p:sp>
        <p:nvSpPr>
          <p:cNvPr id="43" name="Text 15"/>
          <p:cNvSpPr/>
          <p:nvPr/>
        </p:nvSpPr>
        <p:spPr>
          <a:xfrm>
            <a:off x="9034611" y="4876800"/>
            <a:ext cx="2487454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swapnilkobi@example.com</a:t>
            </a:r>
            <a:endParaRPr lang="en-US" sz="1200" dirty="0"/>
          </a:p>
        </p:txBody>
      </p:sp>
      <p:sp>
        <p:nvSpPr>
          <p:cNvPr id="44" name="Text 16"/>
          <p:cNvSpPr/>
          <p:nvPr/>
        </p:nvSpPr>
        <p:spPr>
          <a:xfrm>
            <a:off x="11794331" y="6477000"/>
            <a:ext cx="294322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8/8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3349</Words>
  <Application>WPS Presentation</Application>
  <PresentationFormat>On-screen Show (16:9)</PresentationFormat>
  <Paragraphs>200</Paragraphs>
  <Slides>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ui-sans-serif</vt:lpstr>
      <vt:lpstr>Segoe Print</vt:lpstr>
      <vt:lpstr>ui-sans-serif</vt:lpstr>
      <vt:lpstr>ui-sans-serif</vt:lpstr>
      <vt:lpstr>Calibri</vt:lpstr>
      <vt:lpstr>MingLiU-ExtB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Swapnil Kobi</cp:lastModifiedBy>
  <cp:revision>2</cp:revision>
  <dcterms:created xsi:type="dcterms:W3CDTF">2025-11-14T16:04:00Z</dcterms:created>
  <dcterms:modified xsi:type="dcterms:W3CDTF">2025-11-14T16:10:28Z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9CC7CF27ADD1469EB00AD75BCBEE1BB7_12</vt:lpwstr>
  </property>
  <property fmtid="{D5CDD505-2E9C-101B-9397-08002B2CF9AE}" pid="3" name="KSOProductBuildVer">
    <vt:lpwstr>1033-12.2.0.23155</vt:lpwstr>
  </property>
</Properties>
</file>